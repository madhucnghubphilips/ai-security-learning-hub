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EB752-81B2-464F-B75D-97965C6C1DBD}" v="4" dt="2026-05-07T18:09: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N, Madhu" userId="5e2cfcf0-2bb6-44c3-98ec-27873aa903bf" providerId="ADAL" clId="{81287958-B0E7-4BBB-A5E2-B4E4486D0794}"/>
    <pc:docChg chg="undo custSel addSld modSld">
      <pc:chgData name="CN, Madhu" userId="5e2cfcf0-2bb6-44c3-98ec-27873aa903bf" providerId="ADAL" clId="{81287958-B0E7-4BBB-A5E2-B4E4486D0794}" dt="2026-05-07T18:11:48.440" v="268" actId="1036"/>
      <pc:docMkLst>
        <pc:docMk/>
      </pc:docMkLst>
      <pc:sldChg chg="addSp delSp modSp mod">
        <pc:chgData name="CN, Madhu" userId="5e2cfcf0-2bb6-44c3-98ec-27873aa903bf" providerId="ADAL" clId="{81287958-B0E7-4BBB-A5E2-B4E4486D0794}" dt="2026-05-07T18:11:48.440" v="268" actId="1036"/>
        <pc:sldMkLst>
          <pc:docMk/>
          <pc:sldMk cId="0" sldId="256"/>
        </pc:sldMkLst>
        <pc:spChg chg="add del mod">
          <ac:chgData name="CN, Madhu" userId="5e2cfcf0-2bb6-44c3-98ec-27873aa903bf" providerId="ADAL" clId="{81287958-B0E7-4BBB-A5E2-B4E4486D0794}" dt="2026-05-07T18:08:39.893" v="47" actId="65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CN, Madhu" userId="5e2cfcf0-2bb6-44c3-98ec-27873aa903bf" providerId="ADAL" clId="{81287958-B0E7-4BBB-A5E2-B4E4486D0794}" dt="2026-05-07T18:11:48.440" v="268" actId="1036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8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10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11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13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14" creationId="{00000000-0000-0000-0000-000000000000}"/>
          </ac:spMkLst>
        </pc:spChg>
        <pc:spChg chg="add del">
          <ac:chgData name="CN, Madhu" userId="5e2cfcf0-2bb6-44c3-98ec-27873aa903bf" providerId="ADAL" clId="{81287958-B0E7-4BBB-A5E2-B4E4486D0794}" dt="2026-05-07T18:06:54.946" v="5" actId="47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N, Madhu" userId="5e2cfcf0-2bb6-44c3-98ec-27873aa903bf" providerId="ADAL" clId="{81287958-B0E7-4BBB-A5E2-B4E4486D0794}" dt="2026-05-07T18:11:38.145" v="254" actId="120"/>
          <ac:spMkLst>
            <pc:docMk/>
            <pc:sldMk cId="0" sldId="256"/>
            <ac:spMk id="16" creationId="{00000000-0000-0000-0000-000000000000}"/>
          </ac:spMkLst>
        </pc:spChg>
      </pc:sldChg>
      <pc:sldChg chg="add">
        <pc:chgData name="CN, Madhu" userId="5e2cfcf0-2bb6-44c3-98ec-27873aa903bf" providerId="ADAL" clId="{81287958-B0E7-4BBB-A5E2-B4E4486D0794}" dt="2026-05-07T18:05:50.159" v="0"/>
        <pc:sldMkLst>
          <pc:docMk/>
          <pc:sldMk cId="1505818271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2026-05-07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LLM08 — Vector &amp; Embedding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4110"/>
            <a:ext cx="8186921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B4C8FF"/>
                </a:solidFill>
              </a:rPr>
              <a:t>OWASP Top 10 for LLMs — Data-Layer Attacks in RAG Systems</a:t>
            </a:r>
            <a:endParaRPr lang="en-US" sz="1600" dirty="0">
              <a:solidFill>
                <a:srgbClr val="B4C8FF"/>
              </a:solidFill>
            </a:endParaRPr>
          </a:p>
          <a:p>
            <a:endParaRPr lang="en-US" sz="1600" dirty="0">
              <a:solidFill>
                <a:srgbClr val="B4C8FF"/>
              </a:solidFill>
            </a:endParaRPr>
          </a:p>
          <a:p>
            <a:endParaRPr lang="en-US" sz="1600" dirty="0">
              <a:solidFill>
                <a:srgbClr val="B4C8FF"/>
              </a:solidFill>
            </a:endParaRPr>
          </a:p>
          <a:p>
            <a:endParaRPr lang="en-US" sz="1600" dirty="0">
              <a:solidFill>
                <a:srgbClr val="B4C8FF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Malicious data inside vector databases can silently manipulate LLM outputs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1030" y="3194819"/>
            <a:ext cx="924791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D700"/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D700"/>
                </a:solidFill>
              </a:rPr>
              <a:t>LLM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D700"/>
                </a:solidFill>
              </a:rPr>
              <a:t>systems, security is no longer just code-driven, it is data-driven. </a:t>
            </a:r>
          </a:p>
          <a:p>
            <a:pPr algn="ctr"/>
            <a:endParaRPr lang="en-US" sz="2400" b="1" dirty="0">
              <a:solidFill>
                <a:srgbClr val="FFD700"/>
              </a:solidFill>
            </a:endParaRPr>
          </a:p>
          <a:p>
            <a:pPr algn="ctr"/>
            <a:endParaRPr lang="en-US" sz="2400" b="1" dirty="0">
              <a:solidFill>
                <a:srgbClr val="FFD700"/>
              </a:solidFill>
            </a:endParaRPr>
          </a:p>
          <a:p>
            <a:r>
              <a:rPr sz="2400" b="1" dirty="0">
                <a:solidFill>
                  <a:srgbClr val="FFD700"/>
                </a:solidFill>
              </a:rPr>
              <a:t>“If your data is compromised, your AI decisions are compromised.”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EB0D-5513-0371-E1F6-0B71DEF7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6C8180-5E82-E46F-C79B-BD5EC6C2F85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3E8AC-20A3-38C0-C6BE-F657BA8EBC48}"/>
              </a:ext>
            </a:extLst>
          </p:cNvPr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LLM08 — Vector &amp; Embedding Weaknesses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0C7C1-9E67-9480-54D7-8C16307E0539}"/>
              </a:ext>
            </a:extLst>
          </p:cNvPr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C8FF"/>
                </a:solidFill>
              </a:rPr>
              <a:t>OWASP Top 10 for LLMs — Data-Layer Attacks in RAG Systems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7D8152-1F84-5B79-EE4B-9F636F8A3165}"/>
              </a:ext>
            </a:extLst>
          </p:cNvPr>
          <p:cNvSpPr/>
          <p:nvPr/>
        </p:nvSpPr>
        <p:spPr>
          <a:xfrm>
            <a:off x="640080" y="2011680"/>
            <a:ext cx="1828800" cy="1097280"/>
          </a:xfrm>
          <a:prstGeom prst="round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 Query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34F9EE-7878-8208-B200-122088142863}"/>
              </a:ext>
            </a:extLst>
          </p:cNvPr>
          <p:cNvSpPr/>
          <p:nvPr/>
        </p:nvSpPr>
        <p:spPr>
          <a:xfrm>
            <a:off x="2834640" y="2011680"/>
            <a:ext cx="1828800" cy="1097280"/>
          </a:xfrm>
          <a:prstGeom prst="roundRect">
            <a:avLst/>
          </a:prstGeom>
          <a:solidFill>
            <a:srgbClr val="7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53C883-25C8-14DE-7B8B-510E9B5A091F}"/>
              </a:ext>
            </a:extLst>
          </p:cNvPr>
          <p:cNvSpPr/>
          <p:nvPr/>
        </p:nvSpPr>
        <p:spPr>
          <a:xfrm>
            <a:off x="5029200" y="2011680"/>
            <a:ext cx="1828800" cy="1097280"/>
          </a:xfrm>
          <a:prstGeom prst="round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Vector DB
(Poisoned)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1E46A8B-6B00-6E4C-4709-067E755EC524}"/>
              </a:ext>
            </a:extLst>
          </p:cNvPr>
          <p:cNvSpPr/>
          <p:nvPr/>
        </p:nvSpPr>
        <p:spPr>
          <a:xfrm>
            <a:off x="7223760" y="2011680"/>
            <a:ext cx="1828800" cy="1097280"/>
          </a:xfrm>
          <a:prstGeom prst="roundRect">
            <a:avLst/>
          </a:prstGeom>
          <a:solidFill>
            <a:srgbClr val="FF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Retrieved Context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63E4E6-B631-FB11-E420-68742AACDD5B}"/>
              </a:ext>
            </a:extLst>
          </p:cNvPr>
          <p:cNvSpPr/>
          <p:nvPr/>
        </p:nvSpPr>
        <p:spPr>
          <a:xfrm>
            <a:off x="9418320" y="2011680"/>
            <a:ext cx="1828800" cy="1097280"/>
          </a:xfrm>
          <a:prstGeom prst="roundRect">
            <a:avLst/>
          </a:prstGeom>
          <a:solidFill>
            <a:srgbClr val="FF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5F6731F-ABBE-8A6E-3DCC-55DE4BD2099B}"/>
              </a:ext>
            </a:extLst>
          </p:cNvPr>
          <p:cNvSpPr/>
          <p:nvPr/>
        </p:nvSpPr>
        <p:spPr>
          <a:xfrm>
            <a:off x="2468880" y="2468880"/>
            <a:ext cx="36576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5AE8395-AB1F-1D4F-BD6A-4E50DBE45555}"/>
              </a:ext>
            </a:extLst>
          </p:cNvPr>
          <p:cNvSpPr/>
          <p:nvPr/>
        </p:nvSpPr>
        <p:spPr>
          <a:xfrm>
            <a:off x="4663440" y="2468880"/>
            <a:ext cx="36576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8E21096C-2436-47A0-F90B-6BEF1B575B07}"/>
              </a:ext>
            </a:extLst>
          </p:cNvPr>
          <p:cNvSpPr/>
          <p:nvPr/>
        </p:nvSpPr>
        <p:spPr>
          <a:xfrm>
            <a:off x="6858000" y="2468880"/>
            <a:ext cx="36576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2253F69-A64C-69B9-7C3C-1E700B9B0D07}"/>
              </a:ext>
            </a:extLst>
          </p:cNvPr>
          <p:cNvSpPr/>
          <p:nvPr/>
        </p:nvSpPr>
        <p:spPr>
          <a:xfrm>
            <a:off x="9052560" y="2468880"/>
            <a:ext cx="36576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A72E8-1FFA-075B-EE90-781335B8BCF7}"/>
              </a:ext>
            </a:extLst>
          </p:cNvPr>
          <p:cNvSpPr txBox="1"/>
          <p:nvPr/>
        </p:nvSpPr>
        <p:spPr>
          <a:xfrm>
            <a:off x="640080" y="365760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4C8FF"/>
                </a:solidFill>
              </a:rPr>
              <a:t>What is the Risk?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LLMs rely on vector databases (RAG)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Manipulated embeddings → compromised responses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No code change required (data-layer attack)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1097F-21D2-3586-A619-5D4FA64F7B34}"/>
              </a:ext>
            </a:extLst>
          </p:cNvPr>
          <p:cNvSpPr txBox="1"/>
          <p:nvPr/>
        </p:nvSpPr>
        <p:spPr>
          <a:xfrm>
            <a:off x="5029200" y="36576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4FFC8"/>
                </a:solidFill>
              </a:rPr>
              <a:t>Mitigation (Executive View)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Secure data ingestion &amp; sanitization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Context guardrails (detect hidden instructions)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Trusted retrieval &amp; confidence scoring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Embedding governance (lineage, hashing)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26D28-0026-B734-53CE-E166A57BF39E}"/>
              </a:ext>
            </a:extLst>
          </p:cNvPr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“If your data is compromised, your AI decisions are compromised.”</a:t>
            </a:r>
          </a:p>
        </p:txBody>
      </p:sp>
    </p:spTree>
    <p:extLst>
      <p:ext uri="{BB962C8B-B14F-4D97-AF65-F5344CB8AC3E}">
        <p14:creationId xmlns:p14="http://schemas.microsoft.com/office/powerpoint/2010/main" val="150581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CN, Madhu</cp:lastModifiedBy>
  <cp:revision>1</cp:revision>
  <dcterms:created xsi:type="dcterms:W3CDTF">2013-01-27T09:14:16Z</dcterms:created>
  <dcterms:modified xsi:type="dcterms:W3CDTF">2026-05-07T18:11:52Z</dcterms:modified>
  <cp:category/>
</cp:coreProperties>
</file>